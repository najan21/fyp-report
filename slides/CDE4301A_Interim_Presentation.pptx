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T Interphases Bold" charset="1" panose="02000803060000020004"/>
      <p:regular r:id="rId20"/>
    </p:embeddedFont>
    <p:embeddedFont>
      <p:font typeface="Inter 1 Semi-Bold" charset="1" panose="02000503000000020004"/>
      <p:regular r:id="rId21"/>
    </p:embeddedFont>
    <p:embeddedFont>
      <p:font typeface="Inter 1" charset="1" panose="02000503000000020004"/>
      <p:regular r:id="rId22"/>
    </p:embeddedFont>
    <p:embeddedFont>
      <p:font typeface="Scheherazade New Bold" charset="1" panose="01000600020000020003"/>
      <p:regular r:id="rId23"/>
    </p:embeddedFont>
    <p:embeddedFont>
      <p:font typeface="Inter 1 Bold" charset="1" panose="02000503000000020004"/>
      <p:regular r:id="rId24"/>
    </p:embeddedFont>
    <p:embeddedFont>
      <p:font typeface="TT Interphases" charset="1" panose="02000503020000020004"/>
      <p:regular r:id="rId25"/>
    </p:embeddedFont>
    <p:embeddedFont>
      <p:font typeface="Poppins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VAEMu5glvug.mp4" Type="http://schemas.openxmlformats.org/officeDocument/2006/relationships/video"/><Relationship Id="rId4" Target="../media/VAEMu5glvug.mp4" Type="http://schemas.microsoft.com/office/2007/relationships/media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7.png" Type="http://schemas.openxmlformats.org/officeDocument/2006/relationships/image"/><Relationship Id="rId20" Target="../media/image9.png" Type="http://schemas.openxmlformats.org/officeDocument/2006/relationships/image"/><Relationship Id="rId21" Target="../media/image10.svg" Type="http://schemas.openxmlformats.org/officeDocument/2006/relationships/image"/><Relationship Id="rId3" Target="../media/image8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9.png" Type="http://schemas.openxmlformats.org/officeDocument/2006/relationships/image"/><Relationship Id="rId19" Target="../media/image1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1290.0000" end="2780.0000"/>
                </p14:media>
              </p:ext>
            </p:extLst>
          </p:nvPr>
        </p:nvPicPr>
        <p:blipFill>
          <a:blip r:embed="rId2"/>
          <a:srcRect l="0" t="657" r="0" b="657"/>
          <a:stretch>
            <a:fillRect/>
          </a:stretch>
        </p:blipFill>
        <p:spPr>
          <a:xfrm flipH="false" flipV="false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028700" y="2629321"/>
            <a:ext cx="5863529" cy="5041900"/>
            <a:chOff x="0" y="0"/>
            <a:chExt cx="7818039" cy="67225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5409787"/>
              <a:ext cx="171110" cy="265655"/>
            </a:xfrm>
            <a:custGeom>
              <a:avLst/>
              <a:gdLst/>
              <a:ahLst/>
              <a:cxnLst/>
              <a:rect r="r" b="b" t="t" l="l"/>
              <a:pathLst>
                <a:path h="265655" w="171110">
                  <a:moveTo>
                    <a:pt x="0" y="0"/>
                  </a:moveTo>
                  <a:lnTo>
                    <a:pt x="171110" y="0"/>
                  </a:lnTo>
                  <a:lnTo>
                    <a:pt x="171110" y="265655"/>
                  </a:lnTo>
                  <a:lnTo>
                    <a:pt x="0" y="265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73964" t="0" r="-5145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41414" y="5362575"/>
              <a:ext cx="4223866" cy="1359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b="true" sz="2000">
                  <a:solidFill>
                    <a:srgbClr val="2B32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MUHAMMAD NAZHAN</a:t>
              </a:r>
            </a:p>
            <a:p>
              <a:pPr algn="l">
                <a:lnSpc>
                  <a:spcPts val="2000"/>
                </a:lnSpc>
              </a:pPr>
              <a:r>
                <a:rPr lang="en-US" b="true" sz="2000">
                  <a:solidFill>
                    <a:srgbClr val="2B32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MUHAMMAD SYAQIR</a:t>
              </a:r>
            </a:p>
            <a:p>
              <a:pPr algn="l">
                <a:lnSpc>
                  <a:spcPts val="2000"/>
                </a:lnSpc>
              </a:pPr>
              <a:r>
                <a:rPr lang="en-US" b="true" sz="2000">
                  <a:solidFill>
                    <a:srgbClr val="2B32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CHEN JINGHONG</a:t>
              </a:r>
            </a:p>
            <a:p>
              <a:pPr algn="l">
                <a:lnSpc>
                  <a:spcPts val="20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2B32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ABDUL HAMIZAN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0" y="5733579"/>
              <a:ext cx="171110" cy="265655"/>
            </a:xfrm>
            <a:custGeom>
              <a:avLst/>
              <a:gdLst/>
              <a:ahLst/>
              <a:cxnLst/>
              <a:rect r="r" b="b" t="t" l="l"/>
              <a:pathLst>
                <a:path h="265655" w="171110">
                  <a:moveTo>
                    <a:pt x="0" y="0"/>
                  </a:moveTo>
                  <a:lnTo>
                    <a:pt x="171110" y="0"/>
                  </a:lnTo>
                  <a:lnTo>
                    <a:pt x="171110" y="265655"/>
                  </a:lnTo>
                  <a:lnTo>
                    <a:pt x="0" y="265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73964" t="0" r="-5145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057371"/>
              <a:ext cx="171110" cy="265655"/>
            </a:xfrm>
            <a:custGeom>
              <a:avLst/>
              <a:gdLst/>
              <a:ahLst/>
              <a:cxnLst/>
              <a:rect r="r" b="b" t="t" l="l"/>
              <a:pathLst>
                <a:path h="265655" w="171110">
                  <a:moveTo>
                    <a:pt x="0" y="0"/>
                  </a:moveTo>
                  <a:lnTo>
                    <a:pt x="171110" y="0"/>
                  </a:lnTo>
                  <a:lnTo>
                    <a:pt x="171110" y="265656"/>
                  </a:lnTo>
                  <a:lnTo>
                    <a:pt x="0" y="26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73964" t="0" r="-5145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381163"/>
              <a:ext cx="171110" cy="265655"/>
            </a:xfrm>
            <a:custGeom>
              <a:avLst/>
              <a:gdLst/>
              <a:ahLst/>
              <a:cxnLst/>
              <a:rect r="r" b="b" t="t" l="l"/>
              <a:pathLst>
                <a:path h="265655" w="171110">
                  <a:moveTo>
                    <a:pt x="0" y="0"/>
                  </a:moveTo>
                  <a:lnTo>
                    <a:pt x="171110" y="0"/>
                  </a:lnTo>
                  <a:lnTo>
                    <a:pt x="171110" y="265656"/>
                  </a:lnTo>
                  <a:lnTo>
                    <a:pt x="0" y="26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73964" t="0" r="-5145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76200"/>
              <a:ext cx="7818039" cy="424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50"/>
                </a:lnSpc>
              </a:pPr>
              <a:r>
                <a:rPr lang="en-US" b="true" sz="7500" spc="-225">
                  <a:solidFill>
                    <a:srgbClr val="2B32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CDE4301A Interim Presentation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658466" y="5362575"/>
              <a:ext cx="3159573" cy="1359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00"/>
                </a:lnSpc>
              </a:pPr>
              <a:r>
                <a:rPr lang="en-US" b="true" sz="2000">
                  <a:solidFill>
                    <a:srgbClr val="2B32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A0308605H</a:t>
              </a:r>
            </a:p>
            <a:p>
              <a:pPr algn="r">
                <a:lnSpc>
                  <a:spcPts val="2000"/>
                </a:lnSpc>
              </a:pPr>
            </a:p>
            <a:p>
              <a:pPr algn="r">
                <a:lnSpc>
                  <a:spcPts val="2000"/>
                </a:lnSpc>
              </a:pPr>
            </a:p>
            <a:p>
              <a:pPr algn="r">
                <a:lnSpc>
                  <a:spcPts val="20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2B3237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A0301594H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1987058" cy="1600621"/>
          </a:xfrm>
          <a:custGeom>
            <a:avLst/>
            <a:gdLst/>
            <a:ahLst/>
            <a:cxnLst/>
            <a:rect r="r" b="b" t="t" l="l"/>
            <a:pathLst>
              <a:path h="1600621" w="1987058">
                <a:moveTo>
                  <a:pt x="0" y="0"/>
                </a:moveTo>
                <a:lnTo>
                  <a:pt x="1987058" y="0"/>
                </a:lnTo>
                <a:lnTo>
                  <a:pt x="1987058" y="1600621"/>
                </a:lnTo>
                <a:lnTo>
                  <a:pt x="0" y="1600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1491" y="-141885"/>
            <a:ext cx="18096665" cy="10428885"/>
          </a:xfrm>
          <a:custGeom>
            <a:avLst/>
            <a:gdLst/>
            <a:ahLst/>
            <a:cxnLst/>
            <a:rect r="r" b="b" t="t" l="l"/>
            <a:pathLst>
              <a:path h="10428885" w="18096665">
                <a:moveTo>
                  <a:pt x="0" y="0"/>
                </a:moveTo>
                <a:lnTo>
                  <a:pt x="18096665" y="0"/>
                </a:lnTo>
                <a:lnTo>
                  <a:pt x="18096665" y="10428885"/>
                </a:lnTo>
                <a:lnTo>
                  <a:pt x="0" y="10428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2292"/>
            <a:ext cx="18145965" cy="10831584"/>
          </a:xfrm>
          <a:custGeom>
            <a:avLst/>
            <a:gdLst/>
            <a:ahLst/>
            <a:cxnLst/>
            <a:rect r="r" b="b" t="t" l="l"/>
            <a:pathLst>
              <a:path h="10831584" w="18145965">
                <a:moveTo>
                  <a:pt x="0" y="0"/>
                </a:moveTo>
                <a:lnTo>
                  <a:pt x="18145965" y="0"/>
                </a:lnTo>
                <a:lnTo>
                  <a:pt x="18145965" y="10831584"/>
                </a:lnTo>
                <a:lnTo>
                  <a:pt x="0" y="1083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5787"/>
            <a:ext cx="18288000" cy="9921240"/>
          </a:xfrm>
          <a:custGeom>
            <a:avLst/>
            <a:gdLst/>
            <a:ahLst/>
            <a:cxnLst/>
            <a:rect r="r" b="b" t="t" l="l"/>
            <a:pathLst>
              <a:path h="9921240" w="18288000">
                <a:moveTo>
                  <a:pt x="0" y="0"/>
                </a:moveTo>
                <a:lnTo>
                  <a:pt x="18288000" y="0"/>
                </a:lnTo>
                <a:lnTo>
                  <a:pt x="18288000" y="9921240"/>
                </a:lnTo>
                <a:lnTo>
                  <a:pt x="0" y="9921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-783013" y="6801532"/>
            <a:ext cx="6139944" cy="956022"/>
          </a:xfrm>
          <a:prstGeom prst="line">
            <a:avLst/>
          </a:prstGeom>
          <a:ln cap="flat" w="38100">
            <a:solidFill>
              <a:srgbClr val="2B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085850"/>
            <a:ext cx="8662324" cy="763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spc="-162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AGENDA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137035" y="9028819"/>
            <a:ext cx="139221" cy="216146"/>
          </a:xfrm>
          <a:custGeom>
            <a:avLst/>
            <a:gdLst/>
            <a:ahLst/>
            <a:cxnLst/>
            <a:rect r="r" b="b" t="t" l="l"/>
            <a:pathLst>
              <a:path h="216146" w="139221">
                <a:moveTo>
                  <a:pt x="0" y="0"/>
                </a:moveTo>
                <a:lnTo>
                  <a:pt x="139221" y="0"/>
                </a:lnTo>
                <a:lnTo>
                  <a:pt x="139221" y="216146"/>
                </a:lnTo>
                <a:lnTo>
                  <a:pt x="0" y="216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964" t="0" r="-5145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356385">
            <a:off x="4791741" y="87439"/>
            <a:ext cx="11900822" cy="9837935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flipV="true">
            <a:off x="15218028" y="4528396"/>
            <a:ext cx="6139944" cy="956022"/>
          </a:xfrm>
          <a:prstGeom prst="line">
            <a:avLst/>
          </a:prstGeom>
          <a:ln cap="flat" w="38100">
            <a:solidFill>
              <a:srgbClr val="2B323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101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92883" y="875791"/>
            <a:ext cx="9044152" cy="8535419"/>
          </a:xfrm>
          <a:custGeom>
            <a:avLst/>
            <a:gdLst/>
            <a:ahLst/>
            <a:cxnLst/>
            <a:rect r="r" b="b" t="t" l="l"/>
            <a:pathLst>
              <a:path h="8535419" w="9044152">
                <a:moveTo>
                  <a:pt x="0" y="0"/>
                </a:moveTo>
                <a:lnTo>
                  <a:pt x="9044152" y="0"/>
                </a:lnTo>
                <a:lnTo>
                  <a:pt x="9044152" y="8535418"/>
                </a:lnTo>
                <a:lnTo>
                  <a:pt x="0" y="8535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-2439486" y="7332192"/>
            <a:ext cx="9109422" cy="5261139"/>
          </a:xfrm>
          <a:prstGeom prst="line">
            <a:avLst/>
          </a:prstGeom>
          <a:ln cap="flat" w="38100">
            <a:solidFill>
              <a:srgbClr val="2B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4388169" y="8935085"/>
            <a:ext cx="297270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www.reallygreatsite.com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85850"/>
            <a:ext cx="8662324" cy="763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spc="-162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Red Dot Mobility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15217"/>
            <a:ext cx="4331162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Abou</a:t>
            </a: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t the Company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81070" y="3015217"/>
            <a:ext cx="2378230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10+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81070" y="4776755"/>
            <a:ext cx="2378230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500+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81070" y="6540150"/>
            <a:ext cx="2378230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120+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587750"/>
            <a:ext cx="3949883" cy="465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Red Dot Mobility is a Singapore-based technology company specializing in high-performance motor controllers, with a mission to build the electric scrambler. The company provides custom design services and long-term technical support for OEM and system-integrator partners. It focuses on understanding and solving customers’ real-world technical challenges with robust, application-specific motor-control solutions.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81070" y="3591162"/>
            <a:ext cx="2378230" cy="5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9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Year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 of Industry Experience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82085" y="5352700"/>
            <a:ext cx="1877215" cy="5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9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C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ompleted Projects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82085" y="7116095"/>
            <a:ext cx="1877215" cy="5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9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Profes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sional Team Members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137035" y="9028819"/>
            <a:ext cx="139221" cy="216146"/>
          </a:xfrm>
          <a:custGeom>
            <a:avLst/>
            <a:gdLst/>
            <a:ahLst/>
            <a:cxnLst/>
            <a:rect r="r" b="b" t="t" l="l"/>
            <a:pathLst>
              <a:path h="216146" w="139221">
                <a:moveTo>
                  <a:pt x="0" y="0"/>
                </a:moveTo>
                <a:lnTo>
                  <a:pt x="139221" y="0"/>
                </a:lnTo>
                <a:lnTo>
                  <a:pt x="139221" y="216146"/>
                </a:lnTo>
                <a:lnTo>
                  <a:pt x="0" y="216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3964" t="0" r="-5145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18802" y="1028700"/>
            <a:ext cx="1742074" cy="1403459"/>
          </a:xfrm>
          <a:custGeom>
            <a:avLst/>
            <a:gdLst/>
            <a:ahLst/>
            <a:cxnLst/>
            <a:rect r="r" b="b" t="t" l="l"/>
            <a:pathLst>
              <a:path h="1403459" w="1742074">
                <a:moveTo>
                  <a:pt x="0" y="0"/>
                </a:moveTo>
                <a:lnTo>
                  <a:pt x="1742074" y="0"/>
                </a:lnTo>
                <a:lnTo>
                  <a:pt x="1742074" y="1403459"/>
                </a:lnTo>
                <a:lnTo>
                  <a:pt x="0" y="14034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133207" y="4968564"/>
            <a:ext cx="6021586" cy="1099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FF3131"/>
                </a:solidFill>
                <a:latin typeface="Scheherazade New Bold"/>
                <a:ea typeface="Scheherazade New Bold"/>
                <a:cs typeface="Scheherazade New Bold"/>
                <a:sym typeface="Scheherazade New Bold"/>
              </a:rPr>
              <a:t>insert CAD ISOMETRIC DRAWING</a:t>
            </a:r>
          </a:p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FF3131"/>
                </a:solidFill>
                <a:latin typeface="Scheherazade New Bold"/>
                <a:ea typeface="Scheherazade New Bold"/>
                <a:cs typeface="Scheherazade New Bold"/>
                <a:sym typeface="Scheherazade New Bold"/>
              </a:rPr>
              <a:t>OF RED DOT FRAME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5126" y="64604"/>
            <a:ext cx="18843126" cy="10222396"/>
          </a:xfrm>
          <a:custGeom>
            <a:avLst/>
            <a:gdLst/>
            <a:ahLst/>
            <a:cxnLst/>
            <a:rect r="r" b="b" t="t" l="l"/>
            <a:pathLst>
              <a:path h="10222396" w="18843126">
                <a:moveTo>
                  <a:pt x="0" y="0"/>
                </a:moveTo>
                <a:lnTo>
                  <a:pt x="18843126" y="0"/>
                </a:lnTo>
                <a:lnTo>
                  <a:pt x="18843126" y="10222396"/>
                </a:lnTo>
                <a:lnTo>
                  <a:pt x="0" y="10222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388608" y="8011616"/>
            <a:ext cx="0" cy="49258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" id="4"/>
          <p:cNvSpPr/>
          <p:nvPr/>
        </p:nvSpPr>
        <p:spPr>
          <a:xfrm>
            <a:off x="6091784" y="8011616"/>
            <a:ext cx="0" cy="49258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flipH="true">
            <a:off x="2388608" y="7406094"/>
            <a:ext cx="688740" cy="605522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6088548" y="7406094"/>
            <a:ext cx="688740" cy="605522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758000" y="8011616"/>
            <a:ext cx="0" cy="49258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390305" y="1028700"/>
            <a:ext cx="8503466" cy="7296021"/>
          </a:xfrm>
          <a:custGeom>
            <a:avLst/>
            <a:gdLst/>
            <a:ahLst/>
            <a:cxnLst/>
            <a:rect r="r" b="b" t="t" l="l"/>
            <a:pathLst>
              <a:path h="7296021" w="8503466">
                <a:moveTo>
                  <a:pt x="0" y="0"/>
                </a:moveTo>
                <a:lnTo>
                  <a:pt x="8503465" y="0"/>
                </a:lnTo>
                <a:lnTo>
                  <a:pt x="8503465" y="7296021"/>
                </a:lnTo>
                <a:lnTo>
                  <a:pt x="0" y="7296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822" t="-24065" r="-34162" b="-9294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3462384" y="8011616"/>
            <a:ext cx="0" cy="49258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flipH="true">
            <a:off x="9751528" y="7406094"/>
            <a:ext cx="688740" cy="605522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13452677" y="7406094"/>
            <a:ext cx="688740" cy="605522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357957" y="351472"/>
            <a:ext cx="3678754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Visi</a:t>
            </a:r>
            <a:r>
              <a:rPr lang="en-US" b="true" sz="6500" spc="-195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on </a:t>
            </a:r>
          </a:p>
          <a:p>
            <a:pPr algn="l">
              <a:lnSpc>
                <a:spcPts val="7150"/>
              </a:lnSpc>
            </a:pPr>
            <a:r>
              <a:rPr lang="en-US" b="true" sz="6500" spc="-195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&amp; Mission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7957" y="7456091"/>
            <a:ext cx="1977711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Mission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42941" y="8811945"/>
            <a:ext cx="777657" cy="36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FF3131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44090" y="8811945"/>
            <a:ext cx="777657" cy="36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FF3131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II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45239" y="8811945"/>
            <a:ext cx="777657" cy="36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FF3131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III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46388" y="8811945"/>
            <a:ext cx="777657" cy="36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FF3131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IV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42941" y="9368840"/>
            <a:ext cx="289679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3131"/>
                </a:solidFill>
                <a:latin typeface="Inter 1"/>
                <a:ea typeface="Inter 1"/>
                <a:cs typeface="Inter 1"/>
                <a:sym typeface="Inter 1"/>
              </a:rPr>
              <a:t>Deliver high-quality engineering services.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44090" y="9368840"/>
            <a:ext cx="289679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3131"/>
                </a:solidFill>
                <a:latin typeface="Inter 1"/>
                <a:ea typeface="Inter 1"/>
                <a:cs typeface="Inter 1"/>
                <a:sym typeface="Inter 1"/>
              </a:rPr>
              <a:t>Foster innovation through advanced technologies.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45239" y="9368840"/>
            <a:ext cx="289679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3131"/>
                </a:solidFill>
                <a:latin typeface="Inter 1"/>
                <a:ea typeface="Inter 1"/>
                <a:cs typeface="Inter 1"/>
                <a:sym typeface="Inter 1"/>
              </a:rPr>
              <a:t>Ensure safety, efficiency, and sustainability.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46388" y="9368840"/>
            <a:ext cx="249867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3131"/>
                </a:solidFill>
                <a:latin typeface="Inter 1"/>
                <a:ea typeface="Inter 1"/>
                <a:cs typeface="Inter 1"/>
                <a:sym typeface="Inter 1"/>
              </a:rPr>
              <a:t>Create long-term value for clients.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57957" y="2845081"/>
            <a:ext cx="6504232" cy="1947707"/>
            <a:chOff x="0" y="0"/>
            <a:chExt cx="8672309" cy="2596943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555238"/>
              <a:ext cx="8672309" cy="2041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00"/>
                </a:lnSpc>
              </a:pPr>
              <a:r>
                <a:rPr lang="en-US" sz="2000">
                  <a:solidFill>
                    <a:srgbClr val="2B3237"/>
                  </a:solidFill>
                  <a:latin typeface="Inter 1"/>
                  <a:ea typeface="Inter 1"/>
                  <a:cs typeface="Inter 1"/>
                  <a:sym typeface="Inter 1"/>
                </a:rPr>
                <a:t>To contribute to a lighter, more capable, and more reliable Singapore-engineered electric </a:t>
              </a:r>
              <a:r>
                <a:rPr lang="en-US" sz="2000">
                  <a:solidFill>
                    <a:srgbClr val="2B3237"/>
                  </a:solidFill>
                  <a:latin typeface="Inter 1"/>
                  <a:ea typeface="Inter 1"/>
                  <a:cs typeface="Inter 1"/>
                  <a:sym typeface="Inter 1"/>
                </a:rPr>
                <a:t>scrambler, showing that sound mechanical design can unlock better off-road performance, range, and handling for electric motorcycles.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57150"/>
              <a:ext cx="2636948" cy="507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2799" b="true">
                  <a:solidFill>
                    <a:srgbClr val="2B3237"/>
                  </a:solidFill>
                  <a:latin typeface="Inter 1 Semi-Bold"/>
                  <a:ea typeface="Inter 1 Semi-Bold"/>
                  <a:cs typeface="Inter 1 Semi-Bold"/>
                  <a:sym typeface="Inter 1 Semi-Bold"/>
                </a:rPr>
                <a:t>Vision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5126" y="64604"/>
            <a:ext cx="18843126" cy="10222396"/>
          </a:xfrm>
          <a:custGeom>
            <a:avLst/>
            <a:gdLst/>
            <a:ahLst/>
            <a:cxnLst/>
            <a:rect r="r" b="b" t="t" l="l"/>
            <a:pathLst>
              <a:path h="10222396" w="18843126">
                <a:moveTo>
                  <a:pt x="0" y="0"/>
                </a:moveTo>
                <a:lnTo>
                  <a:pt x="18843126" y="0"/>
                </a:lnTo>
                <a:lnTo>
                  <a:pt x="18843126" y="10222396"/>
                </a:lnTo>
                <a:lnTo>
                  <a:pt x="0" y="10222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4884011" y="2534493"/>
            <a:ext cx="976278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" id="4"/>
          <p:cNvSpPr/>
          <p:nvPr/>
        </p:nvSpPr>
        <p:spPr>
          <a:xfrm flipH="true">
            <a:off x="4225230" y="8094628"/>
            <a:ext cx="3466536" cy="267506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5860289" y="2534493"/>
            <a:ext cx="2554128" cy="749856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14176691" y="6293335"/>
            <a:ext cx="0" cy="516125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987517" y="1687844"/>
            <a:ext cx="8312966" cy="6674290"/>
          </a:xfrm>
          <a:custGeom>
            <a:avLst/>
            <a:gdLst/>
            <a:ahLst/>
            <a:cxnLst/>
            <a:rect r="r" b="b" t="t" l="l"/>
            <a:pathLst>
              <a:path h="6674290" w="8312966">
                <a:moveTo>
                  <a:pt x="0" y="0"/>
                </a:moveTo>
                <a:lnTo>
                  <a:pt x="8312966" y="0"/>
                </a:lnTo>
                <a:lnTo>
                  <a:pt x="8312966" y="6674290"/>
                </a:lnTo>
                <a:lnTo>
                  <a:pt x="0" y="6674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299" t="-29189" r="-37237" b="-16593"/>
            </a:stretch>
          </a:blipFill>
        </p:spPr>
      </p:sp>
      <p:sp>
        <p:nvSpPr>
          <p:cNvPr name="AutoShape 8" id="8"/>
          <p:cNvSpPr/>
          <p:nvPr/>
        </p:nvSpPr>
        <p:spPr>
          <a:xfrm flipH="true">
            <a:off x="14672748" y="1475938"/>
            <a:ext cx="87881" cy="49258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>
            <a:off x="10522895" y="5781965"/>
            <a:ext cx="3653795" cy="511369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3049300" y="1475938"/>
            <a:ext cx="1711328" cy="1185382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475352" y="2389382"/>
            <a:ext cx="2512166" cy="36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WIDE BODY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431" y="8263228"/>
            <a:ext cx="2896799" cy="36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TIGHT SPACE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76691" y="6990435"/>
            <a:ext cx="2896799" cy="71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OVERHEATING BATTERY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60628" y="2154232"/>
            <a:ext cx="2684243" cy="1071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EXCESSIVELY HEAVY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 NECK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5352" y="2810177"/>
            <a:ext cx="289679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Deliver high-quality 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engineering services.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8431" y="8686800"/>
            <a:ext cx="289679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Foster innovation throu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gh advanced technologies.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76691" y="7808878"/>
            <a:ext cx="289679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Ensure safety, 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efficiency, and sustainability.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76625" y="3284349"/>
            <a:ext cx="249867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Create long-term value for clients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8885" y="592137"/>
            <a:ext cx="6729731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CURRENT ISSUES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101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2967" y="2016125"/>
            <a:ext cx="5789598" cy="6327430"/>
          </a:xfrm>
          <a:custGeom>
            <a:avLst/>
            <a:gdLst/>
            <a:ahLst/>
            <a:cxnLst/>
            <a:rect r="r" b="b" t="t" l="l"/>
            <a:pathLst>
              <a:path h="6327430" w="5789598">
                <a:moveTo>
                  <a:pt x="0" y="0"/>
                </a:moveTo>
                <a:lnTo>
                  <a:pt x="5789599" y="0"/>
                </a:lnTo>
                <a:lnTo>
                  <a:pt x="5789599" y="6327430"/>
                </a:lnTo>
                <a:lnTo>
                  <a:pt x="0" y="6327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84619" y="4522026"/>
            <a:ext cx="940399" cy="1008471"/>
          </a:xfrm>
          <a:custGeom>
            <a:avLst/>
            <a:gdLst/>
            <a:ahLst/>
            <a:cxnLst/>
            <a:rect r="r" b="b" t="t" l="l"/>
            <a:pathLst>
              <a:path h="1008471" w="940399">
                <a:moveTo>
                  <a:pt x="0" y="0"/>
                </a:moveTo>
                <a:lnTo>
                  <a:pt x="940399" y="0"/>
                </a:lnTo>
                <a:lnTo>
                  <a:pt x="940399" y="1008471"/>
                </a:lnTo>
                <a:lnTo>
                  <a:pt x="0" y="10084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5" id="5"/>
          <p:cNvSpPr/>
          <p:nvPr/>
        </p:nvSpPr>
        <p:spPr>
          <a:xfrm flipH="true">
            <a:off x="10863223" y="3177272"/>
            <a:ext cx="1241320" cy="99496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863107" y="5610179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>
            <a:off x="12104543" y="3179364"/>
            <a:ext cx="647383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2104543" y="6612283"/>
            <a:ext cx="647383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5892412" y="3177416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5886456" y="5610179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5239073" y="3179364"/>
            <a:ext cx="647383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5239073" y="6612283"/>
            <a:ext cx="647383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-2628139">
            <a:off x="11047780" y="7099686"/>
            <a:ext cx="1741731" cy="1143011"/>
          </a:xfrm>
          <a:custGeom>
            <a:avLst/>
            <a:gdLst/>
            <a:ahLst/>
            <a:cxnLst/>
            <a:rect r="r" b="b" t="t" l="l"/>
            <a:pathLst>
              <a:path h="1143011" w="1741731">
                <a:moveTo>
                  <a:pt x="0" y="0"/>
                </a:moveTo>
                <a:lnTo>
                  <a:pt x="1741731" y="0"/>
                </a:lnTo>
                <a:lnTo>
                  <a:pt x="1741731" y="1143011"/>
                </a:lnTo>
                <a:lnTo>
                  <a:pt x="0" y="11430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35925" y="1085850"/>
            <a:ext cx="12216150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 spc="-195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Core Engineeri</a:t>
            </a:r>
            <a:r>
              <a:rPr lang="en-US" b="true" sz="6500" spc="-195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ng Services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9099" y="3015217"/>
            <a:ext cx="4316543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Civil En</a:t>
            </a: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gineering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9099" y="6448136"/>
            <a:ext cx="4316543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Elec</a:t>
            </a: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trical Engineering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9970" y="3619737"/>
            <a:ext cx="416567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Lorem ipsum dolor </a:t>
            </a: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sit amet, consectetur adipiscing elit. Donec vitae elit sed est dapibus mattis est nisi arcu mauris diam. Proin.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9970" y="7052656"/>
            <a:ext cx="416567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Lorem ipsum dolor sit amet, consectetur adipiscing elit. Donec vitae elit sed est dapibus mattis est nisi arcu mauris diam. Proin.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61164" y="8638830"/>
            <a:ext cx="416567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www.reallygreatsite.com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42757" y="3015217"/>
            <a:ext cx="4316543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Mech</a:t>
            </a: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anical Engineering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42757" y="6448136"/>
            <a:ext cx="4316543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Civil En</a:t>
            </a: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gineering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42757" y="3619737"/>
            <a:ext cx="401694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Lorem ipsum dolor </a:t>
            </a: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sit amet, consectetur adipiscing elit. Donec vitae elit sed est dapibus mattis est nisi arcu mauris diam. Proin.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42757" y="7052656"/>
            <a:ext cx="401694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Lorem ipsum dolor </a:t>
            </a: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sit amet, consectetur adipiscing elit. Donec vitae elit sed est dapibus mattis est nisi arcu mauris diam. Proin.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228888" y="7415140"/>
            <a:ext cx="832276" cy="827074"/>
          </a:xfrm>
          <a:custGeom>
            <a:avLst/>
            <a:gdLst/>
            <a:ahLst/>
            <a:cxnLst/>
            <a:rect r="r" b="b" t="t" l="l"/>
            <a:pathLst>
              <a:path h="827074" w="832276">
                <a:moveTo>
                  <a:pt x="0" y="0"/>
                </a:moveTo>
                <a:lnTo>
                  <a:pt x="832276" y="0"/>
                </a:lnTo>
                <a:lnTo>
                  <a:pt x="832276" y="827074"/>
                </a:lnTo>
                <a:lnTo>
                  <a:pt x="0" y="8270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101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038225" y="5681235"/>
            <a:ext cx="0" cy="76725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" id="4"/>
          <p:cNvSpPr/>
          <p:nvPr/>
        </p:nvSpPr>
        <p:spPr>
          <a:xfrm>
            <a:off x="729099" y="6062235"/>
            <a:ext cx="16829802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6546161" y="4121225"/>
            <a:ext cx="0" cy="232726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9300129" y="5681235"/>
            <a:ext cx="0" cy="76725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>
            <a:off x="12054097" y="4121225"/>
            <a:ext cx="0" cy="232726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4808065" y="5681235"/>
            <a:ext cx="0" cy="767257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9" id="9"/>
          <p:cNvSpPr/>
          <p:nvPr/>
        </p:nvSpPr>
        <p:spPr>
          <a:xfrm flipH="false" flipV="false" rot="-5400000">
            <a:off x="999859" y="4150066"/>
            <a:ext cx="1398351" cy="1340669"/>
          </a:xfrm>
          <a:custGeom>
            <a:avLst/>
            <a:gdLst/>
            <a:ahLst/>
            <a:cxnLst/>
            <a:rect r="r" b="b" t="t" l="l"/>
            <a:pathLst>
              <a:path h="1340669" w="1398351">
                <a:moveTo>
                  <a:pt x="0" y="0"/>
                </a:moveTo>
                <a:lnTo>
                  <a:pt x="1398351" y="0"/>
                </a:lnTo>
                <a:lnTo>
                  <a:pt x="1398351" y="1340669"/>
                </a:lnTo>
                <a:lnTo>
                  <a:pt x="0" y="1340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67249" y="8017577"/>
            <a:ext cx="1171410" cy="1340669"/>
          </a:xfrm>
          <a:custGeom>
            <a:avLst/>
            <a:gdLst/>
            <a:ahLst/>
            <a:cxnLst/>
            <a:rect r="r" b="b" t="t" l="l"/>
            <a:pathLst>
              <a:path h="1340669" w="1171410">
                <a:moveTo>
                  <a:pt x="0" y="0"/>
                </a:moveTo>
                <a:lnTo>
                  <a:pt x="1171410" y="0"/>
                </a:lnTo>
                <a:lnTo>
                  <a:pt x="1171410" y="1340669"/>
                </a:lnTo>
                <a:lnTo>
                  <a:pt x="0" y="1340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267003" y="2590056"/>
            <a:ext cx="1588157" cy="1340669"/>
          </a:xfrm>
          <a:custGeom>
            <a:avLst/>
            <a:gdLst/>
            <a:ahLst/>
            <a:cxnLst/>
            <a:rect r="r" b="b" t="t" l="l"/>
            <a:pathLst>
              <a:path h="1340669" w="1588157">
                <a:moveTo>
                  <a:pt x="0" y="0"/>
                </a:moveTo>
                <a:lnTo>
                  <a:pt x="1588157" y="0"/>
                </a:lnTo>
                <a:lnTo>
                  <a:pt x="1588157" y="1340669"/>
                </a:lnTo>
                <a:lnTo>
                  <a:pt x="0" y="13406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true" flipV="true" rot="0">
            <a:off x="9264860" y="4115150"/>
            <a:ext cx="1389480" cy="1375585"/>
          </a:xfrm>
          <a:custGeom>
            <a:avLst/>
            <a:gdLst/>
            <a:ahLst/>
            <a:cxnLst/>
            <a:rect r="r" b="b" t="t" l="l"/>
            <a:pathLst>
              <a:path h="1375585" w="1389480">
                <a:moveTo>
                  <a:pt x="1389480" y="1375585"/>
                </a:moveTo>
                <a:lnTo>
                  <a:pt x="0" y="1375585"/>
                </a:lnTo>
                <a:lnTo>
                  <a:pt x="0" y="0"/>
                </a:lnTo>
                <a:lnTo>
                  <a:pt x="1389480" y="0"/>
                </a:lnTo>
                <a:lnTo>
                  <a:pt x="1389480" y="137558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3" id="13"/>
          <p:cNvSpPr/>
          <p:nvPr/>
        </p:nvSpPr>
        <p:spPr>
          <a:xfrm>
            <a:off x="3767249" y="5681235"/>
            <a:ext cx="0" cy="2145842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2020997" y="6638992"/>
            <a:ext cx="1360510" cy="1340669"/>
          </a:xfrm>
          <a:custGeom>
            <a:avLst/>
            <a:gdLst/>
            <a:ahLst/>
            <a:cxnLst/>
            <a:rect r="r" b="b" t="t" l="l"/>
            <a:pathLst>
              <a:path h="1340669" w="1360510">
                <a:moveTo>
                  <a:pt x="0" y="0"/>
                </a:moveTo>
                <a:lnTo>
                  <a:pt x="1360510" y="0"/>
                </a:lnTo>
                <a:lnTo>
                  <a:pt x="1360510" y="1340669"/>
                </a:lnTo>
                <a:lnTo>
                  <a:pt x="0" y="1340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4768722" y="4150066"/>
            <a:ext cx="1434510" cy="1340669"/>
          </a:xfrm>
          <a:custGeom>
            <a:avLst/>
            <a:gdLst/>
            <a:ahLst/>
            <a:cxnLst/>
            <a:rect r="r" b="b" t="t" l="l"/>
            <a:pathLst>
              <a:path h="1340669" w="1434510">
                <a:moveTo>
                  <a:pt x="0" y="0"/>
                </a:moveTo>
                <a:lnTo>
                  <a:pt x="1434510" y="0"/>
                </a:lnTo>
                <a:lnTo>
                  <a:pt x="1434510" y="1340669"/>
                </a:lnTo>
                <a:lnTo>
                  <a:pt x="0" y="13406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17462090" y="6020140"/>
            <a:ext cx="151015" cy="84191"/>
          </a:xfrm>
          <a:custGeom>
            <a:avLst/>
            <a:gdLst/>
            <a:ahLst/>
            <a:cxnLst/>
            <a:rect r="r" b="b" t="t" l="l"/>
            <a:pathLst>
              <a:path h="84191" w="151015">
                <a:moveTo>
                  <a:pt x="0" y="0"/>
                </a:moveTo>
                <a:lnTo>
                  <a:pt x="151014" y="0"/>
                </a:lnTo>
                <a:lnTo>
                  <a:pt x="151014" y="84190"/>
                </a:lnTo>
                <a:lnTo>
                  <a:pt x="0" y="841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-5400000">
            <a:off x="10332070" y="-4897995"/>
            <a:ext cx="5916494" cy="8109415"/>
          </a:xfrm>
          <a:custGeom>
            <a:avLst/>
            <a:gdLst/>
            <a:ahLst/>
            <a:cxnLst/>
            <a:rect r="r" b="b" t="t" l="l"/>
            <a:pathLst>
              <a:path h="8109415" w="5916494">
                <a:moveTo>
                  <a:pt x="5916495" y="8109415"/>
                </a:moveTo>
                <a:lnTo>
                  <a:pt x="0" y="8109415"/>
                </a:lnTo>
                <a:lnTo>
                  <a:pt x="0" y="0"/>
                </a:lnTo>
                <a:lnTo>
                  <a:pt x="5916495" y="0"/>
                </a:lnTo>
                <a:lnTo>
                  <a:pt x="5916495" y="8109415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1085850"/>
            <a:ext cx="7986377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Engine</a:t>
            </a:r>
            <a:r>
              <a:rPr lang="en-US" b="true" sz="6500" spc="-195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ering Process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667567"/>
            <a:ext cx="2490229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2015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219525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7249" y="3219525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90604" y="3219525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24848" y="8072822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20997" y="8217786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7255577"/>
            <a:ext cx="218246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Company Established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76774" y="4331225"/>
            <a:ext cx="2490229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2016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82668" y="4919235"/>
            <a:ext cx="245123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Reached 50 Employees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24848" y="6659947"/>
            <a:ext cx="2490229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2017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24848" y="7263197"/>
            <a:ext cx="190259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Expanded Operations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72923" y="6667567"/>
            <a:ext cx="2490229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2018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90604" y="7255577"/>
            <a:ext cx="245123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Completed 250 Projects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20997" y="2715035"/>
            <a:ext cx="2490229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2019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44572" y="3303045"/>
            <a:ext cx="245123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Opened Regional Headquarters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769071" y="6667567"/>
            <a:ext cx="2490229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2020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798540" y="7255577"/>
            <a:ext cx="245123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Recognized as Industry Leader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68722" y="3248366"/>
            <a:ext cx="218246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06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038225" y="9058540"/>
            <a:ext cx="139221" cy="216146"/>
          </a:xfrm>
          <a:custGeom>
            <a:avLst/>
            <a:gdLst/>
            <a:ahLst/>
            <a:cxnLst/>
            <a:rect r="r" b="b" t="t" l="l"/>
            <a:pathLst>
              <a:path h="216146" w="139221">
                <a:moveTo>
                  <a:pt x="0" y="0"/>
                </a:moveTo>
                <a:lnTo>
                  <a:pt x="139221" y="0"/>
                </a:lnTo>
                <a:lnTo>
                  <a:pt x="139221" y="216146"/>
                </a:lnTo>
                <a:lnTo>
                  <a:pt x="0" y="21614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73964" t="0" r="-5145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7110554" y="9058540"/>
            <a:ext cx="139221" cy="216146"/>
          </a:xfrm>
          <a:custGeom>
            <a:avLst/>
            <a:gdLst/>
            <a:ahLst/>
            <a:cxnLst/>
            <a:rect r="r" b="b" t="t" l="l"/>
            <a:pathLst>
              <a:path h="216146" w="139221">
                <a:moveTo>
                  <a:pt x="0" y="0"/>
                </a:moveTo>
                <a:lnTo>
                  <a:pt x="139221" y="0"/>
                </a:lnTo>
                <a:lnTo>
                  <a:pt x="139221" y="216146"/>
                </a:lnTo>
                <a:lnTo>
                  <a:pt x="0" y="21614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73964" t="0" r="-5145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101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02569" y="5238750"/>
            <a:ext cx="12082861" cy="5140708"/>
          </a:xfrm>
          <a:custGeom>
            <a:avLst/>
            <a:gdLst/>
            <a:ahLst/>
            <a:cxnLst/>
            <a:rect r="r" b="b" t="t" l="l"/>
            <a:pathLst>
              <a:path h="5140708" w="12082861">
                <a:moveTo>
                  <a:pt x="0" y="0"/>
                </a:moveTo>
                <a:lnTo>
                  <a:pt x="12082862" y="0"/>
                </a:lnTo>
                <a:lnTo>
                  <a:pt x="12082862" y="5140708"/>
                </a:lnTo>
                <a:lnTo>
                  <a:pt x="0" y="5140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35522" y="593195"/>
            <a:ext cx="3640469" cy="2589283"/>
          </a:xfrm>
          <a:custGeom>
            <a:avLst/>
            <a:gdLst/>
            <a:ahLst/>
            <a:cxnLst/>
            <a:rect r="r" b="b" t="t" l="l"/>
            <a:pathLst>
              <a:path h="2589283" w="3640469">
                <a:moveTo>
                  <a:pt x="0" y="0"/>
                </a:moveTo>
                <a:lnTo>
                  <a:pt x="3640468" y="0"/>
                </a:lnTo>
                <a:lnTo>
                  <a:pt x="3640468" y="2589284"/>
                </a:lnTo>
                <a:lnTo>
                  <a:pt x="0" y="25892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H="true" flipV="true">
            <a:off x="5418668" y="5682145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11421636" y="5744471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 flipH="true" flipV="true">
            <a:off x="7047175" y="4009458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9983629" y="4009458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>
            <a:off x="3727105" y="5684092"/>
            <a:ext cx="1667106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2663188" y="5746419"/>
            <a:ext cx="1707044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5355612" y="4011406"/>
            <a:ext cx="1691563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225181" y="4011406"/>
            <a:ext cx="1707044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3" id="13"/>
          <p:cNvSpPr/>
          <p:nvPr/>
        </p:nvSpPr>
        <p:spPr>
          <a:xfrm flipH="false" flipV="true" rot="0">
            <a:off x="15509281" y="7573177"/>
            <a:ext cx="1750019" cy="1685123"/>
          </a:xfrm>
          <a:custGeom>
            <a:avLst/>
            <a:gdLst/>
            <a:ahLst/>
            <a:cxnLst/>
            <a:rect r="r" b="b" t="t" l="l"/>
            <a:pathLst>
              <a:path h="1685123" w="1750019">
                <a:moveTo>
                  <a:pt x="0" y="1685123"/>
                </a:moveTo>
                <a:lnTo>
                  <a:pt x="1750019" y="1685123"/>
                </a:lnTo>
                <a:lnTo>
                  <a:pt x="1750019" y="0"/>
                </a:lnTo>
                <a:lnTo>
                  <a:pt x="0" y="0"/>
                </a:lnTo>
                <a:lnTo>
                  <a:pt x="0" y="168512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085850"/>
            <a:ext cx="4839254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Engine</a:t>
            </a:r>
            <a:r>
              <a:rPr lang="en-US" b="true" sz="6500" spc="-195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ering Process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75550" y="3828209"/>
            <a:ext cx="1087474" cy="48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3452" spc="-103" b="true">
                <a:solidFill>
                  <a:srgbClr val="2B3237"/>
                </a:solidFill>
                <a:latin typeface="Inter 1 Bold"/>
                <a:ea typeface="Inter 1 Bold"/>
                <a:cs typeface="Inter 1 Bold"/>
                <a:sym typeface="Inter 1 Bold"/>
              </a:rPr>
              <a:t>40%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17974" y="3828209"/>
            <a:ext cx="1152257" cy="48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3452" spc="-103" b="true">
                <a:solidFill>
                  <a:srgbClr val="2B3237"/>
                </a:solidFill>
                <a:latin typeface="Inter 1 Bold"/>
                <a:ea typeface="Inter 1 Bold"/>
                <a:cs typeface="Inter 1 Bold"/>
                <a:sym typeface="Inter 1 Bold"/>
              </a:rPr>
              <a:t>20%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32182" y="5505305"/>
            <a:ext cx="1048019" cy="48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3452" spc="-103" b="true">
                <a:solidFill>
                  <a:srgbClr val="2B3237"/>
                </a:solidFill>
                <a:latin typeface="Inter 1 Bold"/>
                <a:ea typeface="Inter 1 Bold"/>
                <a:cs typeface="Inter 1 Bold"/>
                <a:sym typeface="Inter 1 Bold"/>
              </a:rPr>
              <a:t>10%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6046" y="5500895"/>
            <a:ext cx="1087474" cy="48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3452" spc="-103" b="true">
                <a:solidFill>
                  <a:srgbClr val="2B3237"/>
                </a:solidFill>
                <a:latin typeface="Inter 1 Bold"/>
                <a:ea typeface="Inter 1 Bold"/>
                <a:cs typeface="Inter 1 Bold"/>
                <a:sym typeface="Inter 1 Bold"/>
              </a:rPr>
              <a:t>30%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11561" y="1470343"/>
            <a:ext cx="4147739" cy="9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>
                <a:solidFill>
                  <a:srgbClr val="2B323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15 Operational Countries</a:t>
            </a:r>
          </a:p>
          <a:p>
            <a:pPr algn="r">
              <a:lnSpc>
                <a:spcPts val="2660"/>
              </a:lnSpc>
            </a:pPr>
            <a:r>
              <a:rPr lang="en-US" sz="1900">
                <a:solidFill>
                  <a:srgbClr val="2B323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50+ Strategic Partners</a:t>
            </a:r>
          </a:p>
          <a:p>
            <a:pPr algn="r">
              <a:lnSpc>
                <a:spcPts val="2660"/>
              </a:lnSpc>
            </a:pPr>
            <a:r>
              <a:rPr lang="en-US" sz="1900">
                <a:solidFill>
                  <a:srgbClr val="2B323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1,000+ Active Clients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08973" y="5500895"/>
            <a:ext cx="1241860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  <a:spcBef>
                <a:spcPct val="0"/>
              </a:spcBef>
            </a:pP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Salford South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918291" y="5500895"/>
            <a:ext cx="1484965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  <a:spcBef>
                <a:spcPct val="0"/>
              </a:spcBef>
            </a:pP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Paucek and Lage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61659" y="3828209"/>
            <a:ext cx="1670203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Salford</a:t>
            </a:r>
          </a:p>
          <a:p>
            <a:pPr algn="l">
              <a:lnSpc>
                <a:spcPts val="1899"/>
              </a:lnSpc>
              <a:spcBef>
                <a:spcPct val="0"/>
              </a:spcBef>
            </a:pP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West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04083" y="3797897"/>
            <a:ext cx="1586475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  <a:spcBef>
                <a:spcPct val="0"/>
              </a:spcBef>
            </a:pP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Bordelle International</a:t>
            </a:r>
          </a:p>
        </p:txBody>
      </p:sp>
      <p:sp>
        <p:nvSpPr>
          <p:cNvPr name="Freeform 24" id="24"/>
          <p:cNvSpPr/>
          <p:nvPr/>
        </p:nvSpPr>
        <p:spPr>
          <a:xfrm flipH="true" flipV="false" rot="0">
            <a:off x="1028700" y="7525150"/>
            <a:ext cx="1754349" cy="1733150"/>
          </a:xfrm>
          <a:custGeom>
            <a:avLst/>
            <a:gdLst/>
            <a:ahLst/>
            <a:cxnLst/>
            <a:rect r="r" b="b" t="t" l="l"/>
            <a:pathLst>
              <a:path h="1733150" w="1754349">
                <a:moveTo>
                  <a:pt x="1754349" y="0"/>
                </a:moveTo>
                <a:lnTo>
                  <a:pt x="0" y="0"/>
                </a:lnTo>
                <a:lnTo>
                  <a:pt x="0" y="1733150"/>
                </a:lnTo>
                <a:lnTo>
                  <a:pt x="1754349" y="1733150"/>
                </a:lnTo>
                <a:lnTo>
                  <a:pt x="175434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 flipV="true">
            <a:off x="10977686" y="-3956846"/>
            <a:ext cx="9109422" cy="5261139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101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96052" y="1667278"/>
            <a:ext cx="7797133" cy="6952444"/>
          </a:xfrm>
          <a:custGeom>
            <a:avLst/>
            <a:gdLst/>
            <a:ahLst/>
            <a:cxnLst/>
            <a:rect r="r" b="b" t="t" l="l"/>
            <a:pathLst>
              <a:path h="6952444" w="7797133">
                <a:moveTo>
                  <a:pt x="0" y="0"/>
                </a:moveTo>
                <a:lnTo>
                  <a:pt x="7797133" y="0"/>
                </a:lnTo>
                <a:lnTo>
                  <a:pt x="7797133" y="6952444"/>
                </a:lnTo>
                <a:lnTo>
                  <a:pt x="0" y="6952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33023" y="4606708"/>
            <a:ext cx="2778567" cy="1014169"/>
            <a:chOff x="0" y="0"/>
            <a:chExt cx="3704757" cy="1352226"/>
          </a:xfrm>
        </p:grpSpPr>
        <p:sp>
          <p:nvSpPr>
            <p:cNvPr name="AutoShape 5" id="5"/>
            <p:cNvSpPr/>
            <p:nvPr/>
          </p:nvSpPr>
          <p:spPr>
            <a:xfrm flipH="true" flipV="true">
              <a:off x="2041413" y="16087"/>
              <a:ext cx="1655403" cy="1326228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2700"/>
              <a:ext cx="2041413" cy="0"/>
            </a:xfrm>
            <a:prstGeom prst="line">
              <a:avLst/>
            </a:prstGeom>
            <a:ln cap="flat" w="25400">
              <a:solidFill>
                <a:srgbClr val="2B3237"/>
              </a:solidFill>
              <a:prstDash val="solid"/>
              <a:headEnd type="oval" len="lg" w="lg"/>
              <a:tailEnd type="none" len="sm" w="sm"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450856" y="4366043"/>
            <a:ext cx="1799765" cy="5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9"/>
              </a:lnSpc>
            </a:pP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Facil</a:t>
            </a: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ity Assessment</a:t>
            </a:r>
          </a:p>
        </p:txBody>
      </p:sp>
      <p:sp>
        <p:nvSpPr>
          <p:cNvPr name="AutoShape 8" id="8"/>
          <p:cNvSpPr/>
          <p:nvPr/>
        </p:nvSpPr>
        <p:spPr>
          <a:xfrm flipH="true" flipV="true">
            <a:off x="4542327" y="5711478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3005311" y="5713425"/>
            <a:ext cx="1531060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29099" y="5458748"/>
            <a:ext cx="1799765" cy="5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9"/>
              </a:lnSpc>
            </a:pP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Automat</a:t>
            </a: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ion Integration</a:t>
            </a:r>
          </a:p>
        </p:txBody>
      </p:sp>
      <p:sp>
        <p:nvSpPr>
          <p:cNvPr name="AutoShape 11" id="11"/>
          <p:cNvSpPr/>
          <p:nvPr/>
        </p:nvSpPr>
        <p:spPr>
          <a:xfrm flipH="true" flipV="true">
            <a:off x="9000574" y="6958487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>
            <a:off x="10242126" y="7951067"/>
            <a:ext cx="716409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11434784" y="7710402"/>
            <a:ext cx="1491662" cy="5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Equ</a:t>
            </a: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ipment Upgrades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59642" y="2784810"/>
            <a:ext cx="2163934" cy="5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9"/>
              </a:lnSpc>
            </a:pP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35% Product</a:t>
            </a: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ivity Increas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59642" y="5890428"/>
            <a:ext cx="2163934" cy="5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9"/>
              </a:lnSpc>
            </a:pP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20% Energy Reduct</a:t>
            </a: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795145"/>
            <a:ext cx="6774142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Indust</a:t>
            </a:r>
            <a:r>
              <a:rPr lang="en-US" b="true" sz="6500" spc="-195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rial Facility Modernization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076325"/>
            <a:ext cx="8115300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sz="26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FEATURED PROJECT #1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039610"/>
            <a:ext cx="4134282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Abou</a:t>
            </a: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t the Project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549112"/>
            <a:ext cx="4057650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Lorem ipsum dolor 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sit amet,amet porta felis  consectetur adipiscing elit. Donec vitae elit sed est dapibus mattis est nisi arcu mauris diam.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863115" y="719956"/>
            <a:ext cx="3704929" cy="2161209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863115" y="3825573"/>
            <a:ext cx="3704929" cy="2161209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4439447" y="8996045"/>
            <a:ext cx="2604324" cy="51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9"/>
              </a:lnSpc>
            </a:pP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65% Duration Complet</a:t>
            </a:r>
            <a:r>
              <a:rPr lang="en-US" sz="1899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ion Timeline 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863115" y="6931191"/>
            <a:ext cx="3704929" cy="2161209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flipV="true">
            <a:off x="12127088" y="-4813155"/>
            <a:ext cx="7612409" cy="7260330"/>
          </a:xfrm>
          <a:prstGeom prst="line">
            <a:avLst/>
          </a:prstGeom>
          <a:ln cap="flat" w="38100">
            <a:solidFill>
              <a:srgbClr val="2B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-748680" y="7493365"/>
            <a:ext cx="7612409" cy="7260330"/>
          </a:xfrm>
          <a:prstGeom prst="line">
            <a:avLst/>
          </a:prstGeom>
          <a:ln cap="flat" w="38100">
            <a:solidFill>
              <a:srgbClr val="2B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038225" y="9058540"/>
            <a:ext cx="139221" cy="216146"/>
          </a:xfrm>
          <a:custGeom>
            <a:avLst/>
            <a:gdLst/>
            <a:ahLst/>
            <a:cxnLst/>
            <a:rect r="r" b="b" t="t" l="l"/>
            <a:pathLst>
              <a:path h="216146" w="139221">
                <a:moveTo>
                  <a:pt x="0" y="0"/>
                </a:moveTo>
                <a:lnTo>
                  <a:pt x="139221" y="0"/>
                </a:lnTo>
                <a:lnTo>
                  <a:pt x="139221" y="216146"/>
                </a:lnTo>
                <a:lnTo>
                  <a:pt x="0" y="2161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73964" t="0" r="-5145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101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46734" y="1028700"/>
            <a:ext cx="9512566" cy="10738551"/>
          </a:xfrm>
          <a:custGeom>
            <a:avLst/>
            <a:gdLst/>
            <a:ahLst/>
            <a:cxnLst/>
            <a:rect r="r" b="b" t="t" l="l"/>
            <a:pathLst>
              <a:path h="10738551" w="9512566">
                <a:moveTo>
                  <a:pt x="0" y="0"/>
                </a:moveTo>
                <a:lnTo>
                  <a:pt x="9512566" y="0"/>
                </a:lnTo>
                <a:lnTo>
                  <a:pt x="9512566" y="10738551"/>
                </a:lnTo>
                <a:lnTo>
                  <a:pt x="0" y="10738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795145"/>
            <a:ext cx="5812001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spc="-195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Smart Engine </a:t>
            </a:r>
            <a:r>
              <a:rPr lang="en-US" b="true" sz="6500" spc="-195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Development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76325"/>
            <a:ext cx="4598509" cy="34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sz="26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FEATURED PROJECT #2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68724"/>
            <a:ext cx="728675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Lorem ipsum dolor 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sit amet, consectetur adipiscing elit. Donec vitae elit sed est dapibus mattis est nisi arcu mauris diam. Proin porttitor egestas dolor at consectetur. Integer bibendum lacus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446180"/>
            <a:ext cx="2249241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Tr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affic Flow Improvement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34815" y="8446180"/>
            <a:ext cx="2249241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M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aintenance Cost Reduction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3776" y="5686265"/>
            <a:ext cx="2699089" cy="2699089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09891" y="5686265"/>
            <a:ext cx="2699089" cy="2699089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216006" y="5686265"/>
            <a:ext cx="2699089" cy="2699089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796601" y="8446180"/>
            <a:ext cx="153789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Syst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em Reliability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6248307" y="5927792"/>
            <a:ext cx="9168074" cy="5158254"/>
          </a:xfrm>
          <a:prstGeom prst="line">
            <a:avLst/>
          </a:prstGeom>
          <a:ln cap="flat" w="38100">
            <a:solidFill>
              <a:srgbClr val="2B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-168266" y="-3436862"/>
            <a:ext cx="9168074" cy="5158254"/>
          </a:xfrm>
          <a:prstGeom prst="line">
            <a:avLst/>
          </a:prstGeom>
          <a:ln cap="flat" w="38100">
            <a:solidFill>
              <a:srgbClr val="2B3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-8100000">
            <a:off x="15064435" y="2382961"/>
            <a:ext cx="2569719" cy="1686378"/>
          </a:xfrm>
          <a:custGeom>
            <a:avLst/>
            <a:gdLst/>
            <a:ahLst/>
            <a:cxnLst/>
            <a:rect r="r" b="b" t="t" l="l"/>
            <a:pathLst>
              <a:path h="1686378" w="2569719">
                <a:moveTo>
                  <a:pt x="0" y="0"/>
                </a:moveTo>
                <a:lnTo>
                  <a:pt x="2569719" y="0"/>
                </a:lnTo>
                <a:lnTo>
                  <a:pt x="2569719" y="1686378"/>
                </a:lnTo>
                <a:lnTo>
                  <a:pt x="0" y="1686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503017" y="1795145"/>
            <a:ext cx="4756283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Sus</a:t>
            </a:r>
            <a:r>
              <a:rPr lang="en-US" b="true" sz="2799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tainability Planning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38225" y="5143500"/>
            <a:ext cx="139221" cy="216146"/>
          </a:xfrm>
          <a:custGeom>
            <a:avLst/>
            <a:gdLst/>
            <a:ahLst/>
            <a:cxnLst/>
            <a:rect r="r" b="b" t="t" l="l"/>
            <a:pathLst>
              <a:path h="216146" w="139221">
                <a:moveTo>
                  <a:pt x="0" y="0"/>
                </a:moveTo>
                <a:lnTo>
                  <a:pt x="139221" y="0"/>
                </a:lnTo>
                <a:lnTo>
                  <a:pt x="139221" y="216146"/>
                </a:lnTo>
                <a:lnTo>
                  <a:pt x="0" y="2161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73964" t="0" r="-5145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101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4912052" y="2315223"/>
            <a:ext cx="8025746" cy="5136478"/>
          </a:xfrm>
          <a:custGeom>
            <a:avLst/>
            <a:gdLst/>
            <a:ahLst/>
            <a:cxnLst/>
            <a:rect r="r" b="b" t="t" l="l"/>
            <a:pathLst>
              <a:path h="5136478" w="8025746">
                <a:moveTo>
                  <a:pt x="0" y="5136478"/>
                </a:moveTo>
                <a:lnTo>
                  <a:pt x="8025746" y="5136478"/>
                </a:lnTo>
                <a:lnTo>
                  <a:pt x="8025746" y="0"/>
                </a:lnTo>
                <a:lnTo>
                  <a:pt x="0" y="0"/>
                </a:lnTo>
                <a:lnTo>
                  <a:pt x="0" y="51364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H="true" flipV="true">
            <a:off x="5588872" y="3447653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451620" y="6449596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11451620" y="3447653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 flipV="true">
            <a:off x="5588872" y="6449596"/>
            <a:ext cx="1241552" cy="994671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4373559" y="3449601"/>
            <a:ext cx="1215313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2699128" y="3449601"/>
            <a:ext cx="1215313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4373559" y="5455413"/>
            <a:ext cx="2456865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11451620" y="5455413"/>
            <a:ext cx="2462821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>
            <a:off x="4373559" y="7442176"/>
            <a:ext cx="1215313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2699128" y="7442176"/>
            <a:ext cx="1215313" cy="0"/>
          </a:xfrm>
          <a:prstGeom prst="line">
            <a:avLst/>
          </a:prstGeom>
          <a:ln cap="flat" w="19050">
            <a:solidFill>
              <a:srgbClr val="2B3237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1085850"/>
            <a:ext cx="16230600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 spc="-195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Portfo</a:t>
            </a:r>
            <a:r>
              <a:rPr lang="en-US" b="true" sz="6500" spc="-195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lio Performance Statistics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8120" y="3108289"/>
            <a:ext cx="310673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650+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52566" y="3108289"/>
            <a:ext cx="310673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12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114101"/>
            <a:ext cx="310673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18</a:t>
            </a: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0+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52566" y="5114101"/>
            <a:ext cx="310673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93%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7540" y="4009989"/>
            <a:ext cx="308731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Compl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eted Projects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71986" y="4009989"/>
            <a:ext cx="308731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Compl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eted Projects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8120" y="6015801"/>
            <a:ext cx="308731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Compl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eted Projects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71986" y="6015801"/>
            <a:ext cx="308731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Compl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eted Projects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8120" y="7119913"/>
            <a:ext cx="310673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850,000+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52566" y="7119913"/>
            <a:ext cx="310673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00"/>
              </a:lnSpc>
            </a:pPr>
            <a:r>
              <a:rPr lang="en-US" sz="5000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97%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7540" y="8021613"/>
            <a:ext cx="308731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Compl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eted Projects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71986" y="8021613"/>
            <a:ext cx="308731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0"/>
              </a:lnSpc>
            </a:pP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Compl</a:t>
            </a:r>
            <a:r>
              <a:rPr lang="en-US" sz="19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eted Projects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584619" y="4731576"/>
            <a:ext cx="940399" cy="1008471"/>
          </a:xfrm>
          <a:custGeom>
            <a:avLst/>
            <a:gdLst/>
            <a:ahLst/>
            <a:cxnLst/>
            <a:rect r="r" b="b" t="t" l="l"/>
            <a:pathLst>
              <a:path h="1008471" w="940399">
                <a:moveTo>
                  <a:pt x="0" y="0"/>
                </a:moveTo>
                <a:lnTo>
                  <a:pt x="940399" y="0"/>
                </a:lnTo>
                <a:lnTo>
                  <a:pt x="940399" y="1008471"/>
                </a:lnTo>
                <a:lnTo>
                  <a:pt x="0" y="10084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5029880" y="8639175"/>
            <a:ext cx="8228240" cy="61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Lorem ipsum dolor </a:t>
            </a: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sit amet, consectetur adipiscing elit. Donec vitae elit sed est dapibus mattis est nisi arcu mauris diam. Proin.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38225" y="9058540"/>
            <a:ext cx="139221" cy="216146"/>
          </a:xfrm>
          <a:custGeom>
            <a:avLst/>
            <a:gdLst/>
            <a:ahLst/>
            <a:cxnLst/>
            <a:rect r="r" b="b" t="t" l="l"/>
            <a:pathLst>
              <a:path h="216146" w="139221">
                <a:moveTo>
                  <a:pt x="0" y="0"/>
                </a:moveTo>
                <a:lnTo>
                  <a:pt x="139221" y="0"/>
                </a:lnTo>
                <a:lnTo>
                  <a:pt x="139221" y="216146"/>
                </a:lnTo>
                <a:lnTo>
                  <a:pt x="0" y="2161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3964" t="0" r="-5145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5101" y="597947"/>
            <a:ext cx="16757798" cy="9091105"/>
          </a:xfrm>
          <a:custGeom>
            <a:avLst/>
            <a:gdLst/>
            <a:ahLst/>
            <a:cxnLst/>
            <a:rect r="r" b="b" t="t" l="l"/>
            <a:pathLst>
              <a:path h="9091105" w="16757798">
                <a:moveTo>
                  <a:pt x="0" y="0"/>
                </a:moveTo>
                <a:lnTo>
                  <a:pt x="16757798" y="0"/>
                </a:lnTo>
                <a:lnTo>
                  <a:pt x="16757798" y="9091106"/>
                </a:lnTo>
                <a:lnTo>
                  <a:pt x="0" y="90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7618099" y="-1120241"/>
            <a:ext cx="16834345" cy="9897192"/>
          </a:xfrm>
          <a:custGeom>
            <a:avLst/>
            <a:gdLst/>
            <a:ahLst/>
            <a:cxnLst/>
            <a:rect r="r" b="b" t="t" l="l"/>
            <a:pathLst>
              <a:path h="9897192" w="16834345">
                <a:moveTo>
                  <a:pt x="16834344" y="0"/>
                </a:moveTo>
                <a:lnTo>
                  <a:pt x="0" y="0"/>
                </a:lnTo>
                <a:lnTo>
                  <a:pt x="0" y="9897191"/>
                </a:lnTo>
                <a:lnTo>
                  <a:pt x="16834344" y="9897191"/>
                </a:lnTo>
                <a:lnTo>
                  <a:pt x="168343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30633" y="2335257"/>
            <a:ext cx="1226734" cy="2303726"/>
          </a:xfrm>
          <a:custGeom>
            <a:avLst/>
            <a:gdLst/>
            <a:ahLst/>
            <a:cxnLst/>
            <a:rect r="r" b="b" t="t" l="l"/>
            <a:pathLst>
              <a:path h="2303726" w="1226734">
                <a:moveTo>
                  <a:pt x="0" y="0"/>
                </a:moveTo>
                <a:lnTo>
                  <a:pt x="1226734" y="0"/>
                </a:lnTo>
                <a:lnTo>
                  <a:pt x="1226734" y="2303726"/>
                </a:lnTo>
                <a:lnTo>
                  <a:pt x="0" y="23037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55749" y="7377812"/>
            <a:ext cx="4850760" cy="4577905"/>
          </a:xfrm>
          <a:custGeom>
            <a:avLst/>
            <a:gdLst/>
            <a:ahLst/>
            <a:cxnLst/>
            <a:rect r="r" b="b" t="t" l="l"/>
            <a:pathLst>
              <a:path h="4577905" w="4850760">
                <a:moveTo>
                  <a:pt x="0" y="0"/>
                </a:moveTo>
                <a:lnTo>
                  <a:pt x="4850760" y="0"/>
                </a:lnTo>
                <a:lnTo>
                  <a:pt x="4850760" y="4577904"/>
                </a:lnTo>
                <a:lnTo>
                  <a:pt x="0" y="45779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751468"/>
            <a:ext cx="603874" cy="647587"/>
          </a:xfrm>
          <a:custGeom>
            <a:avLst/>
            <a:gdLst/>
            <a:ahLst/>
            <a:cxnLst/>
            <a:rect r="r" b="b" t="t" l="l"/>
            <a:pathLst>
              <a:path h="647587" w="603874">
                <a:moveTo>
                  <a:pt x="0" y="0"/>
                </a:moveTo>
                <a:lnTo>
                  <a:pt x="603874" y="0"/>
                </a:lnTo>
                <a:lnTo>
                  <a:pt x="603874" y="647586"/>
                </a:lnTo>
                <a:lnTo>
                  <a:pt x="0" y="6475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6881981"/>
            <a:ext cx="306463" cy="306463"/>
            <a:chOff x="0" y="0"/>
            <a:chExt cx="70040" cy="70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040" cy="70040"/>
            </a:xfrm>
            <a:custGeom>
              <a:avLst/>
              <a:gdLst/>
              <a:ahLst/>
              <a:cxnLst/>
              <a:rect r="r" b="b" t="t" l="l"/>
              <a:pathLst>
                <a:path h="70040" w="70040">
                  <a:moveTo>
                    <a:pt x="35020" y="0"/>
                  </a:moveTo>
                  <a:lnTo>
                    <a:pt x="35020" y="0"/>
                  </a:lnTo>
                  <a:cubicBezTo>
                    <a:pt x="54361" y="0"/>
                    <a:pt x="70040" y="15679"/>
                    <a:pt x="70040" y="35020"/>
                  </a:cubicBezTo>
                  <a:lnTo>
                    <a:pt x="70040" y="35020"/>
                  </a:lnTo>
                  <a:cubicBezTo>
                    <a:pt x="70040" y="54361"/>
                    <a:pt x="54361" y="70040"/>
                    <a:pt x="35020" y="70040"/>
                  </a:cubicBezTo>
                  <a:lnTo>
                    <a:pt x="35020" y="70040"/>
                  </a:lnTo>
                  <a:cubicBezTo>
                    <a:pt x="15679" y="70040"/>
                    <a:pt x="0" y="54361"/>
                    <a:pt x="0" y="35020"/>
                  </a:cubicBezTo>
                  <a:lnTo>
                    <a:pt x="0" y="35020"/>
                  </a:lnTo>
                  <a:cubicBezTo>
                    <a:pt x="0" y="15679"/>
                    <a:pt x="15679" y="0"/>
                    <a:pt x="35020" y="0"/>
                  </a:cubicBezTo>
                  <a:close/>
                </a:path>
              </a:pathLst>
            </a:custGeom>
            <a:solidFill>
              <a:srgbClr val="2B323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70040" cy="98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7283694"/>
            <a:ext cx="306463" cy="306463"/>
            <a:chOff x="0" y="0"/>
            <a:chExt cx="70040" cy="70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040" cy="70040"/>
            </a:xfrm>
            <a:custGeom>
              <a:avLst/>
              <a:gdLst/>
              <a:ahLst/>
              <a:cxnLst/>
              <a:rect r="r" b="b" t="t" l="l"/>
              <a:pathLst>
                <a:path h="70040" w="70040">
                  <a:moveTo>
                    <a:pt x="35020" y="0"/>
                  </a:moveTo>
                  <a:lnTo>
                    <a:pt x="35020" y="0"/>
                  </a:lnTo>
                  <a:cubicBezTo>
                    <a:pt x="54361" y="0"/>
                    <a:pt x="70040" y="15679"/>
                    <a:pt x="70040" y="35020"/>
                  </a:cubicBezTo>
                  <a:lnTo>
                    <a:pt x="70040" y="35020"/>
                  </a:lnTo>
                  <a:cubicBezTo>
                    <a:pt x="70040" y="54361"/>
                    <a:pt x="54361" y="70040"/>
                    <a:pt x="35020" y="70040"/>
                  </a:cubicBezTo>
                  <a:lnTo>
                    <a:pt x="35020" y="70040"/>
                  </a:lnTo>
                  <a:cubicBezTo>
                    <a:pt x="15679" y="70040"/>
                    <a:pt x="0" y="54361"/>
                    <a:pt x="0" y="35020"/>
                  </a:cubicBezTo>
                  <a:lnTo>
                    <a:pt x="0" y="35020"/>
                  </a:lnTo>
                  <a:cubicBezTo>
                    <a:pt x="0" y="15679"/>
                    <a:pt x="15679" y="0"/>
                    <a:pt x="35020" y="0"/>
                  </a:cubicBezTo>
                  <a:close/>
                </a:path>
              </a:pathLst>
            </a:custGeom>
            <a:solidFill>
              <a:srgbClr val="2B323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0040" cy="98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6420037"/>
            <a:ext cx="338119" cy="338119"/>
            <a:chOff x="0" y="0"/>
            <a:chExt cx="70040" cy="70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040" cy="70040"/>
            </a:xfrm>
            <a:custGeom>
              <a:avLst/>
              <a:gdLst/>
              <a:ahLst/>
              <a:cxnLst/>
              <a:rect r="r" b="b" t="t" l="l"/>
              <a:pathLst>
                <a:path h="70040" w="70040">
                  <a:moveTo>
                    <a:pt x="35020" y="0"/>
                  </a:moveTo>
                  <a:lnTo>
                    <a:pt x="35020" y="0"/>
                  </a:lnTo>
                  <a:cubicBezTo>
                    <a:pt x="54361" y="0"/>
                    <a:pt x="70040" y="15679"/>
                    <a:pt x="70040" y="35020"/>
                  </a:cubicBezTo>
                  <a:lnTo>
                    <a:pt x="70040" y="35020"/>
                  </a:lnTo>
                  <a:cubicBezTo>
                    <a:pt x="70040" y="54361"/>
                    <a:pt x="54361" y="70040"/>
                    <a:pt x="35020" y="70040"/>
                  </a:cubicBezTo>
                  <a:lnTo>
                    <a:pt x="35020" y="70040"/>
                  </a:lnTo>
                  <a:cubicBezTo>
                    <a:pt x="15679" y="70040"/>
                    <a:pt x="0" y="54361"/>
                    <a:pt x="0" y="35020"/>
                  </a:cubicBezTo>
                  <a:lnTo>
                    <a:pt x="0" y="35020"/>
                  </a:lnTo>
                  <a:cubicBezTo>
                    <a:pt x="0" y="15679"/>
                    <a:pt x="15679" y="0"/>
                    <a:pt x="35020" y="0"/>
                  </a:cubicBezTo>
                  <a:close/>
                </a:path>
              </a:pathLst>
            </a:custGeom>
            <a:solidFill>
              <a:srgbClr val="2B323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70040" cy="98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06903" y="6957311"/>
            <a:ext cx="150057" cy="150057"/>
          </a:xfrm>
          <a:custGeom>
            <a:avLst/>
            <a:gdLst/>
            <a:ahLst/>
            <a:cxnLst/>
            <a:rect r="r" b="b" t="t" l="l"/>
            <a:pathLst>
              <a:path h="150057" w="150057">
                <a:moveTo>
                  <a:pt x="0" y="0"/>
                </a:moveTo>
                <a:lnTo>
                  <a:pt x="150057" y="0"/>
                </a:lnTo>
                <a:lnTo>
                  <a:pt x="150057" y="150057"/>
                </a:lnTo>
                <a:lnTo>
                  <a:pt x="0" y="1500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9110" y="7377812"/>
            <a:ext cx="165643" cy="118228"/>
          </a:xfrm>
          <a:custGeom>
            <a:avLst/>
            <a:gdLst/>
            <a:ahLst/>
            <a:cxnLst/>
            <a:rect r="r" b="b" t="t" l="l"/>
            <a:pathLst>
              <a:path h="118228" w="165643">
                <a:moveTo>
                  <a:pt x="0" y="0"/>
                </a:moveTo>
                <a:lnTo>
                  <a:pt x="165643" y="0"/>
                </a:lnTo>
                <a:lnTo>
                  <a:pt x="165643" y="118228"/>
                </a:lnTo>
                <a:lnTo>
                  <a:pt x="0" y="1182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23200" y="6477187"/>
            <a:ext cx="149119" cy="223819"/>
          </a:xfrm>
          <a:custGeom>
            <a:avLst/>
            <a:gdLst/>
            <a:ahLst/>
            <a:cxnLst/>
            <a:rect r="r" b="b" t="t" l="l"/>
            <a:pathLst>
              <a:path h="223819" w="149119">
                <a:moveTo>
                  <a:pt x="0" y="0"/>
                </a:moveTo>
                <a:lnTo>
                  <a:pt x="149119" y="0"/>
                </a:lnTo>
                <a:lnTo>
                  <a:pt x="149119" y="223819"/>
                </a:lnTo>
                <a:lnTo>
                  <a:pt x="0" y="2238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3235708"/>
            <a:ext cx="515021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 spc="-225" b="true">
                <a:solidFill>
                  <a:srgbClr val="2B3237"/>
                </a:solidFill>
                <a:latin typeface="Inter 1 Semi-Bold"/>
                <a:ea typeface="Inter 1 Semi-Bold"/>
                <a:cs typeface="Inter 1 Semi-Bold"/>
                <a:sym typeface="Inter 1 Semi-Bold"/>
              </a:rPr>
              <a:t>Thank You!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3074" y="1903119"/>
            <a:ext cx="2039381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spc="-54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Aldenaire International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55971" y="7278402"/>
            <a:ext cx="4015927" cy="30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999">
                <a:solidFill>
                  <a:srgbClr val="2B3237"/>
                </a:solidFill>
                <a:latin typeface="Poppins"/>
                <a:ea typeface="Poppins"/>
                <a:cs typeface="Poppins"/>
                <a:sym typeface="Poppins"/>
              </a:rPr>
              <a:t>hello@reallygreatsite.com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61299" y="6881527"/>
            <a:ext cx="2640352" cy="30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999">
                <a:solidFill>
                  <a:srgbClr val="2B3237"/>
                </a:solidFill>
                <a:latin typeface="Poppins"/>
                <a:ea typeface="Poppins"/>
                <a:cs typeface="Poppins"/>
                <a:sym typeface="Poppins"/>
              </a:rPr>
              <a:t>+123-456-7890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61299" y="6438284"/>
            <a:ext cx="3429027" cy="30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999">
                <a:solidFill>
                  <a:srgbClr val="2B3237"/>
                </a:solidFill>
                <a:latin typeface="Poppins"/>
                <a:ea typeface="Poppins"/>
                <a:cs typeface="Poppins"/>
                <a:sym typeface="Poppins"/>
              </a:rPr>
              <a:t>123 Anywhere St., Any City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4632512"/>
            <a:ext cx="6221193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Lorem ipsum dolor </a:t>
            </a:r>
            <a:r>
              <a:rPr lang="en-US" sz="2000">
                <a:solidFill>
                  <a:srgbClr val="2B3237"/>
                </a:solidFill>
                <a:latin typeface="Inter 1"/>
                <a:ea typeface="Inter 1"/>
                <a:cs typeface="Inter 1"/>
                <a:sym typeface="Inter 1"/>
              </a:rPr>
              <a:t>sit amet, consectetur adipiscing elit. Donec vitae elit sed est dapibus mattis est nisi arcu mauris diam. Proin porttitor egestas dolor at consectetur. Integer bibendum lacus ut cursus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38225" y="8209283"/>
            <a:ext cx="139221" cy="216146"/>
          </a:xfrm>
          <a:custGeom>
            <a:avLst/>
            <a:gdLst/>
            <a:ahLst/>
            <a:cxnLst/>
            <a:rect r="r" b="b" t="t" l="l"/>
            <a:pathLst>
              <a:path h="216146" w="139221">
                <a:moveTo>
                  <a:pt x="0" y="0"/>
                </a:moveTo>
                <a:lnTo>
                  <a:pt x="139221" y="0"/>
                </a:lnTo>
                <a:lnTo>
                  <a:pt x="139221" y="216145"/>
                </a:lnTo>
                <a:lnTo>
                  <a:pt x="0" y="21614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73964" t="0" r="-5145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DAHYPVnQbeA</dc:identifier>
  <dcterms:modified xsi:type="dcterms:W3CDTF">2011-08-01T06:04:30Z</dcterms:modified>
  <cp:revision>1</cp:revision>
  <dc:title>CDE4301A Interim Presentation</dc:title>
</cp:coreProperties>
</file>